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1" r:id="rId4"/>
    <p:sldId id="258" r:id="rId5"/>
    <p:sldId id="259" r:id="rId6"/>
    <p:sldId id="260" r:id="rId7"/>
    <p:sldId id="263" r:id="rId8"/>
    <p:sldId id="264" r:id="rId9"/>
    <p:sldId id="265" r:id="rId10"/>
    <p:sldId id="266" r:id="rId11"/>
    <p:sldId id="267" r:id="rId12"/>
    <p:sldId id="26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80BE3C-B0B0-4CFB-816B-712D973A64E0}" v="3" dt="2026-09-15T10:05:24.2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222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SP MADHURI" userId="d5baabbced009fe2" providerId="LiveId" clId="{5C1935DC-7BAA-4BFD-8AE9-FAF66D151093}"/>
    <pc:docChg chg="undo custSel addSld modSld sldOrd">
      <pc:chgData name="TSP MADHURI" userId="d5baabbced009fe2" providerId="LiveId" clId="{5C1935DC-7BAA-4BFD-8AE9-FAF66D151093}" dt="2026-09-15T10:01:58.231" v="188" actId="22"/>
      <pc:docMkLst>
        <pc:docMk/>
      </pc:docMkLst>
      <pc:sldChg chg="addSp delSp modSp mod">
        <pc:chgData name="TSP MADHURI" userId="d5baabbced009fe2" providerId="LiveId" clId="{5C1935DC-7BAA-4BFD-8AE9-FAF66D151093}" dt="2026-09-15T10:01:58.231" v="188" actId="22"/>
        <pc:sldMkLst>
          <pc:docMk/>
          <pc:sldMk cId="1570750093" sldId="256"/>
        </pc:sldMkLst>
        <pc:spChg chg="mod">
          <ac:chgData name="TSP MADHURI" userId="d5baabbced009fe2" providerId="LiveId" clId="{5C1935DC-7BAA-4BFD-8AE9-FAF66D151093}" dt="2026-09-15T09:58:58.254" v="62" actId="20577"/>
          <ac:spMkLst>
            <pc:docMk/>
            <pc:sldMk cId="1570750093" sldId="256"/>
            <ac:spMk id="2" creationId="{81C0CCFF-527E-4AC9-A45F-A8196F49E0C3}"/>
          </ac:spMkLst>
        </pc:spChg>
        <pc:spChg chg="mod">
          <ac:chgData name="TSP MADHURI" userId="d5baabbced009fe2" providerId="LiveId" clId="{5C1935DC-7BAA-4BFD-8AE9-FAF66D151093}" dt="2026-09-15T09:59:08.667" v="65"/>
          <ac:spMkLst>
            <pc:docMk/>
            <pc:sldMk cId="1570750093" sldId="256"/>
            <ac:spMk id="3" creationId="{A452AC95-AA7D-A76A-037F-6B2DB5A27E48}"/>
          </ac:spMkLst>
        </pc:spChg>
        <pc:spChg chg="add del">
          <ac:chgData name="TSP MADHURI" userId="d5baabbced009fe2" providerId="LiveId" clId="{5C1935DC-7BAA-4BFD-8AE9-FAF66D151093}" dt="2026-09-15T09:58:23.995" v="1" actId="22"/>
          <ac:spMkLst>
            <pc:docMk/>
            <pc:sldMk cId="1570750093" sldId="256"/>
            <ac:spMk id="5" creationId="{16E58A68-9A46-73D5-6ACA-6EBDA713DE38}"/>
          </ac:spMkLst>
        </pc:spChg>
        <pc:spChg chg="add del mod">
          <ac:chgData name="TSP MADHURI" userId="d5baabbced009fe2" providerId="LiveId" clId="{5C1935DC-7BAA-4BFD-8AE9-FAF66D151093}" dt="2026-09-15T10:01:58.231" v="188" actId="22"/>
          <ac:spMkLst>
            <pc:docMk/>
            <pc:sldMk cId="1570750093" sldId="256"/>
            <ac:spMk id="7" creationId="{195ACB3F-808A-0A7A-B8BD-A70C42ECC1E5}"/>
          </ac:spMkLst>
        </pc:spChg>
      </pc:sldChg>
      <pc:sldChg chg="modSp new mod">
        <pc:chgData name="TSP MADHURI" userId="d5baabbced009fe2" providerId="LiveId" clId="{5C1935DC-7BAA-4BFD-8AE9-FAF66D151093}" dt="2026-09-15T09:59:16.247" v="74" actId="20577"/>
        <pc:sldMkLst>
          <pc:docMk/>
          <pc:sldMk cId="676338040" sldId="257"/>
        </pc:sldMkLst>
        <pc:spChg chg="mod">
          <ac:chgData name="TSP MADHURI" userId="d5baabbced009fe2" providerId="LiveId" clId="{5C1935DC-7BAA-4BFD-8AE9-FAF66D151093}" dt="2026-09-15T09:59:16.247" v="74" actId="20577"/>
          <ac:spMkLst>
            <pc:docMk/>
            <pc:sldMk cId="676338040" sldId="257"/>
            <ac:spMk id="2" creationId="{EDE71AF3-F02C-0F4C-0929-57F8B753540D}"/>
          </ac:spMkLst>
        </pc:spChg>
      </pc:sldChg>
      <pc:sldChg chg="modSp new mod">
        <pc:chgData name="TSP MADHURI" userId="d5baabbced009fe2" providerId="LiveId" clId="{5C1935DC-7BAA-4BFD-8AE9-FAF66D151093}" dt="2026-09-15T09:59:25.529" v="86" actId="20577"/>
        <pc:sldMkLst>
          <pc:docMk/>
          <pc:sldMk cId="4104242747" sldId="258"/>
        </pc:sldMkLst>
        <pc:spChg chg="mod">
          <ac:chgData name="TSP MADHURI" userId="d5baabbced009fe2" providerId="LiveId" clId="{5C1935DC-7BAA-4BFD-8AE9-FAF66D151093}" dt="2026-09-15T09:59:25.529" v="86" actId="20577"/>
          <ac:spMkLst>
            <pc:docMk/>
            <pc:sldMk cId="4104242747" sldId="258"/>
            <ac:spMk id="2" creationId="{8E154CC5-4FD5-611A-4481-E878E281E2CD}"/>
          </ac:spMkLst>
        </pc:spChg>
      </pc:sldChg>
      <pc:sldChg chg="modSp new mod">
        <pc:chgData name="TSP MADHURI" userId="d5baabbced009fe2" providerId="LiveId" clId="{5C1935DC-7BAA-4BFD-8AE9-FAF66D151093}" dt="2026-09-15T09:59:36.234" v="101" actId="20577"/>
        <pc:sldMkLst>
          <pc:docMk/>
          <pc:sldMk cId="4178111765" sldId="259"/>
        </pc:sldMkLst>
        <pc:spChg chg="mod">
          <ac:chgData name="TSP MADHURI" userId="d5baabbced009fe2" providerId="LiveId" clId="{5C1935DC-7BAA-4BFD-8AE9-FAF66D151093}" dt="2026-09-15T09:59:36.234" v="101" actId="20577"/>
          <ac:spMkLst>
            <pc:docMk/>
            <pc:sldMk cId="4178111765" sldId="259"/>
            <ac:spMk id="2" creationId="{3954FDF4-A21D-11D6-CA7A-382058E2F499}"/>
          </ac:spMkLst>
        </pc:spChg>
      </pc:sldChg>
      <pc:sldChg chg="modSp new mod">
        <pc:chgData name="TSP MADHURI" userId="d5baabbced009fe2" providerId="LiveId" clId="{5C1935DC-7BAA-4BFD-8AE9-FAF66D151093}" dt="2026-09-15T09:59:46.562" v="113" actId="20577"/>
        <pc:sldMkLst>
          <pc:docMk/>
          <pc:sldMk cId="1869875426" sldId="260"/>
        </pc:sldMkLst>
        <pc:spChg chg="mod">
          <ac:chgData name="TSP MADHURI" userId="d5baabbced009fe2" providerId="LiveId" clId="{5C1935DC-7BAA-4BFD-8AE9-FAF66D151093}" dt="2026-09-15T09:59:46.562" v="113" actId="20577"/>
          <ac:spMkLst>
            <pc:docMk/>
            <pc:sldMk cId="1869875426" sldId="260"/>
            <ac:spMk id="2" creationId="{C73BDDFB-DFEC-7A21-D889-17965A225820}"/>
          </ac:spMkLst>
        </pc:spChg>
      </pc:sldChg>
      <pc:sldChg chg="modSp new mod ord">
        <pc:chgData name="TSP MADHURI" userId="d5baabbced009fe2" providerId="LiveId" clId="{5C1935DC-7BAA-4BFD-8AE9-FAF66D151093}" dt="2026-09-15T10:00:14.865" v="149"/>
        <pc:sldMkLst>
          <pc:docMk/>
          <pc:sldMk cId="3980090555" sldId="261"/>
        </pc:sldMkLst>
        <pc:spChg chg="mod">
          <ac:chgData name="TSP MADHURI" userId="d5baabbced009fe2" providerId="LiveId" clId="{5C1935DC-7BAA-4BFD-8AE9-FAF66D151093}" dt="2026-09-15T10:00:08.859" v="147" actId="20577"/>
          <ac:spMkLst>
            <pc:docMk/>
            <pc:sldMk cId="3980090555" sldId="261"/>
            <ac:spMk id="2" creationId="{54D4AC2B-1702-695F-E0B5-9F6550F04B7D}"/>
          </ac:spMkLst>
        </pc:spChg>
      </pc:sldChg>
      <pc:sldChg chg="modSp new mod">
        <pc:chgData name="TSP MADHURI" userId="d5baabbced009fe2" providerId="LiveId" clId="{5C1935DC-7BAA-4BFD-8AE9-FAF66D151093}" dt="2026-09-15T10:00:56.631" v="184" actId="20577"/>
        <pc:sldMkLst>
          <pc:docMk/>
          <pc:sldMk cId="1396777043" sldId="262"/>
        </pc:sldMkLst>
        <pc:spChg chg="mod">
          <ac:chgData name="TSP MADHURI" userId="d5baabbced009fe2" providerId="LiveId" clId="{5C1935DC-7BAA-4BFD-8AE9-FAF66D151093}" dt="2026-09-15T10:00:56.631" v="184" actId="20577"/>
          <ac:spMkLst>
            <pc:docMk/>
            <pc:sldMk cId="1396777043" sldId="262"/>
            <ac:spMk id="2" creationId="{BDCEF2EB-DC8E-A39F-8C45-4CB81854799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27AFC0-00B8-4117-895C-3E834B171036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3476CA-421D-4B57-8942-5762D93F1A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41649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5F3B8-DDEB-3931-BD30-FCDF92768B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0E52B7-3612-C42C-E3C4-1568700EDD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E2A539-9977-5E0E-CDC1-067BB186F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549C3-E12B-4CC2-9FA1-D4C0643B7241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C91C38-BEF3-AA2E-ACFE-DCF1543BE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1CB7FA-8196-F586-E960-B5BAE429F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B3F1FD-0147-797C-0ED6-E694A2BD624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59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259C4-DC4A-CF70-25D2-F39535A1F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6C27E-0A06-D409-8884-852E74A294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7AC31F-7BFD-CA38-00A7-A2FD01A09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415AD4-5B3F-78FD-DE66-C3F50AC63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80549F-8592-A2F0-A7A6-A1C45E9E6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381CCB4-DDFA-058A-AE03-5A3CFCA9F8C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15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EAB08-E23E-771E-1FDE-DC7851594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036FC1-1DB6-A8A4-C315-834C3FFCFE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565D3F-93C4-BE6A-B0D8-5AFF3E69A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BF378-8F16-492D-87B3-963C20ACF441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12169B-9903-41C3-CC1A-A773A925D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ACC6B5-6988-9DF9-8223-C5EB677C9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E3DABBD-F85F-360C-A546-D5E0B92597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256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988FF-7E75-1B89-7C11-7B6C180BD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8E0077-B676-7850-AAD4-77689FB5B4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E4118E-9650-EED0-1592-D4AD00CF46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DD1BDD-D86C-6A53-CEF7-1AEC9AB1A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9781E-9150-4561-9F7C-01394C55C5AE}" type="datetime1">
              <a:rPr lang="en-IN" smtClean="0"/>
              <a:t>15-10-2026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B15FF2-A4C5-135F-9FA1-A00A6BF9A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2FB8AA-FC6D-B278-7FFF-C52EF4307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3064E1C-D746-419C-5FE6-033B95CAC3C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261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CC900-8F42-8A20-E378-434465ED2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DB5D6-6D80-913C-77A3-83E1C27571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D7E712-FB4A-DBE7-7EE8-B34465C755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FC7C92-E667-0F30-6C26-267F10CBCB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31715A-AF86-785C-73F2-00FF9D5D32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01D6D5-269C-31AC-CC40-917E0E246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12896-961F-4F7A-B2DD-D0EFF57BA027}" type="datetime1">
              <a:rPr lang="en-IN" smtClean="0"/>
              <a:t>15-10-2026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0DFF97-DB90-A3DC-1A5F-E041ABA4F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DFEC1F-4C0D-B461-B76D-FAFE7A86B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0D765FD-6DB7-1155-27BC-BD0DB452993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133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9FB57-0CBB-0AA3-9BF0-2ED233797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2CE64-C359-3445-7AB9-29DE8577C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51132-6BA4-40BC-AB03-D6B9C4F193FC}" type="datetime1">
              <a:rPr lang="en-IN" smtClean="0"/>
              <a:t>15-10-2026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63F73F-0420-C605-3EFF-74CBBE1B7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6EE44D-529C-1AC9-123B-7EBF53FA6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4A6640D-01A3-9B0C-80EF-F10DE42207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580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479728-5FED-202E-6651-A7474C32A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85D5E-B9E5-4C7E-88B1-43A66A7C3488}" type="datetime1">
              <a:rPr lang="en-IN" smtClean="0"/>
              <a:t>15-10-2026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F6D777-ECC4-1DAB-81FF-7D7AF3FF3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B56A1D-0096-D4B4-2B11-1CDFE3317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60B416-1EF4-3CD6-8E26-DC636E7B37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1296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E5010-2418-091A-429D-37E400ABA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991DC8-3F06-BF0E-8109-8C1FEDEAD6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544A7E-4423-60E2-E6E9-AAF09976D0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B3B07B-D8E2-C0AA-F7E4-545DF9791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BE2A2-8283-469E-B4A1-D6877668ECFE}" type="datetime1">
              <a:rPr lang="en-IN" smtClean="0"/>
              <a:t>15-10-2026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FB3DF0-CC05-0B05-24D9-6663B5E11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AB53E2-0205-A987-5D45-0DFC51D89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E6F4A6A-FE20-C82E-95DD-FA2A5FCB0B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276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B7E51-2E25-5BFC-2696-794A224B6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F9DC63-25C2-8B4F-3683-6B0A9BC756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4EBA80-D1E6-9786-229E-B9B70D9BD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0DED29-F47E-2534-AFB4-003A8091A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0A723-EDD4-4822-84BE-4B7F697B4E56}" type="datetime1">
              <a:rPr lang="en-IN" smtClean="0"/>
              <a:t>15-10-2026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E6DE89-3F60-1B9B-0597-F389CAA72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0B78F6-7EC0-BF15-5CA1-F0159D796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82565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38785-1FEB-0757-FEC8-6AA1CB86C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D94473-1718-0D76-22B7-33E82D611F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9B1E2-29EC-2F2E-B362-55E80C4D0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48764-2CC6-431B-B501-1DF197EE73CC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36D9E9-31F7-01F5-C19A-438C40773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EE1B4F-5C80-EFB0-BA9F-8F17B8444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32412BD-D800-391F-9FB6-159E83E7478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8465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C43F02-0084-480F-2BA3-75A1C0102C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B22D9D-B106-6765-76CF-C9843EC19F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A262E0-081B-BE3A-F92B-73DE583ED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EEFFA-3959-41FE-A774-B9B27FD8983C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69D4DC-613B-8105-F661-A37BB2AD0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246AAE-21DC-2AE1-CF07-91F73A4DF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35440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948038-F901-EAD1-D5DB-03603E896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7E2A14-F9FA-9B0B-5AA7-D785E09BAF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E56813-B660-C26F-CFEF-AF22C547FC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0F4BF4-0D93-4F1E-82BB-778F1EDDD45F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B697EB-16D9-74E1-1448-0CDC280711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C42DC9-4178-3222-F3F2-C5EC792CA7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3481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0CCFF-527E-4AC9-A45F-A8196F49E0C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2800" b="1"/>
              <a:t>BLOOD BANK INVENTORY AND DONOR MATCHER</a:t>
            </a:r>
            <a:br/>
            <a:r>
              <a:rPr sz="2800" b="1"/>
              <a:t>TEAM NO: 7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2AC95-AA7D-A76A-037F-6B2DB5A27E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961336"/>
          </a:xfrm>
        </p:spPr>
        <p:txBody>
          <a:bodyPr/>
          <a:lstStyle/>
          <a:p>
            <a:pPr algn="l"/>
            <a:r>
              <a:rPr sz="1800" b="0" dirty="0"/>
              <a:t>Vikas </a:t>
            </a:r>
            <a:r>
              <a:rPr lang="en-US" sz="1800" b="0" dirty="0"/>
              <a:t>- </a:t>
            </a:r>
            <a:r>
              <a:rPr sz="1800" b="0" dirty="0"/>
              <a:t>2620030391</a:t>
            </a:r>
            <a:br>
              <a:rPr dirty="0"/>
            </a:br>
            <a:r>
              <a:rPr sz="1800" b="0" dirty="0"/>
              <a:t>Vinay</a:t>
            </a:r>
            <a:r>
              <a:rPr lang="en-US" sz="1800" b="0" dirty="0"/>
              <a:t> - </a:t>
            </a:r>
            <a:r>
              <a:rPr sz="1800" b="0" dirty="0"/>
              <a:t>2620030387</a:t>
            </a:r>
            <a:br>
              <a:rPr dirty="0"/>
            </a:br>
            <a:r>
              <a:rPr sz="1800" b="0" dirty="0"/>
              <a:t>Harivansh</a:t>
            </a:r>
            <a:r>
              <a:rPr lang="en-US" sz="1800" b="0" dirty="0"/>
              <a:t> - </a:t>
            </a:r>
            <a:r>
              <a:rPr sz="1800" b="0" dirty="0"/>
              <a:t>2620040183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EFCDBBB2-97B1-B1CE-72F7-62625B779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7D318-FBF5-482E-BB10-69D54EA53D7B}" type="datetime1">
              <a:rPr lang="en-IN" smtClean="0"/>
              <a:t>15-10-2026</a:t>
            </a:fld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7EDCEF-417A-3750-BB67-C2592E7FA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07500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71AF3-F02C-0F4C-0929-57F8B7535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500" b="1"/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12F73-2B13-AB30-C0D8-CBA5CE2696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8055FA-8EC1-0FDC-21CB-845F9016C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819AD-E7C0-4450-A29A-C3AB3AFFF6BF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9CFF38-D9B5-1B3E-0EC5-08CA2C213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2</a:t>
            </a:fld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698480" cy="4754880"/>
          </a:xfrm>
          <a:prstGeom prst="rect">
            <a:avLst/>
          </a:prstGeom>
          <a:noFill/>
        </p:spPr>
        <p:txBody>
          <a:bodyPr wrap="square" lIns="109728" tIns="91440">
            <a:spAutoFit/>
          </a:bodyPr>
          <a:lstStyle/>
          <a:p>
            <a:pPr>
              <a:spcAft>
                <a:spcPts val="1300"/>
              </a:spcAft>
            </a:pPr>
            <a:r>
              <a:rPr sz="1900">
                <a:solidFill>
                  <a:srgbClr val="323D50"/>
                </a:solidFill>
                <a:latin typeface="Aptos"/>
              </a:rPr>
              <a:t>•  Blood Bank Inventory and Donor Matcher is a Java console application for managing donor records and blood stock.</a:t>
            </a:r>
          </a:p>
          <a:p>
            <a:pPr>
              <a:spcAft>
                <a:spcPts val="1300"/>
              </a:spcAft>
            </a:pPr>
            <a:r>
              <a:rPr sz="1900">
                <a:solidFill>
                  <a:srgbClr val="323D50"/>
                </a:solidFill>
                <a:latin typeface="Aptos"/>
              </a:rPr>
              <a:t>•  It supports donor registration, search, sorting, inventory additions and issue transactions.</a:t>
            </a:r>
          </a:p>
          <a:p>
            <a:pPr>
              <a:spcAft>
                <a:spcPts val="1300"/>
              </a:spcAft>
            </a:pPr>
            <a:r>
              <a:rPr sz="1900">
                <a:solidFill>
                  <a:srgbClr val="323D50"/>
                </a:solidFill>
                <a:latin typeface="Aptos"/>
              </a:rPr>
              <a:t>•  A compatibility lookup helps identify possible red-cell donor groups for a selected recipient group.</a:t>
            </a:r>
          </a:p>
          <a:p>
            <a:pPr>
              <a:spcAft>
                <a:spcPts val="1300"/>
              </a:spcAft>
            </a:pPr>
            <a:r>
              <a:rPr sz="1900">
                <a:solidFill>
                  <a:srgbClr val="323D50"/>
                </a:solidFill>
                <a:latin typeface="Aptos"/>
              </a:rPr>
              <a:t>•  Donor and stock records are saved in CSV files and loaded again when the application starts.</a:t>
            </a:r>
          </a:p>
          <a:p>
            <a:pPr>
              <a:spcAft>
                <a:spcPts val="1300"/>
              </a:spcAft>
            </a:pPr>
            <a:r>
              <a:rPr sz="1900">
                <a:solidFill>
                  <a:srgbClr val="323D50"/>
                </a:solidFill>
                <a:latin typeface="Aptos"/>
              </a:rPr>
              <a:t>•  The project demonstrates core Java programming concepts through a practical management scenario.</a:t>
            </a:r>
          </a:p>
        </p:txBody>
      </p:sp>
    </p:spTree>
    <p:extLst>
      <p:ext uri="{BB962C8B-B14F-4D97-AF65-F5344CB8AC3E}">
        <p14:creationId xmlns:p14="http://schemas.microsoft.com/office/powerpoint/2010/main" val="6763380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4AC2B-1702-695F-E0B5-9F6550F04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500" b="1"/>
              <a:t>Understanding 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ACF377-DEED-0D67-3271-7CBBBC860D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A350AE-3599-26AF-9C41-62ADA08AE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A9410-9F72-4C75-ADBD-63106BC7C7D6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261277-3D40-ACA2-AEC9-E9A0E9DC1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3</a:t>
            </a:fld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698480" cy="4754880"/>
          </a:xfrm>
          <a:prstGeom prst="rect">
            <a:avLst/>
          </a:prstGeom>
          <a:noFill/>
        </p:spPr>
        <p:txBody>
          <a:bodyPr wrap="square" lIns="109728" tIns="91440">
            <a:spAutoFit/>
          </a:bodyPr>
          <a:lstStyle/>
          <a:p>
            <a:pPr>
              <a:spcAft>
                <a:spcPts val="1300"/>
              </a:spcAft>
            </a:pPr>
            <a:r>
              <a:rPr sz="1900">
                <a:solidFill>
                  <a:srgbClr val="323D50"/>
                </a:solidFill>
                <a:latin typeface="Aptos"/>
              </a:rPr>
              <a:t>•  Blood banks need an organized way to maintain donor details and track the availability of different blood groups.</a:t>
            </a:r>
          </a:p>
          <a:p>
            <a:pPr>
              <a:spcAft>
                <a:spcPts val="1300"/>
              </a:spcAft>
            </a:pPr>
            <a:r>
              <a:rPr sz="1900">
                <a:solidFill>
                  <a:srgbClr val="323D50"/>
                </a:solidFill>
                <a:latin typeface="Aptos"/>
              </a:rPr>
              <a:t>•  Manual records can make it difficult to search donors quickly, monitor low stock, and avoid stock becoming negative.</a:t>
            </a:r>
          </a:p>
          <a:p>
            <a:pPr>
              <a:spcAft>
                <a:spcPts val="1300"/>
              </a:spcAft>
            </a:pPr>
            <a:r>
              <a:rPr sz="1900">
                <a:solidFill>
                  <a:srgbClr val="323D50"/>
                </a:solidFill>
                <a:latin typeface="Aptos"/>
              </a:rPr>
              <a:t>•  The application stores donor ID, name, blood group, age, phone number and city.</a:t>
            </a:r>
          </a:p>
          <a:p>
            <a:pPr>
              <a:spcAft>
                <a:spcPts val="1300"/>
              </a:spcAft>
            </a:pPr>
            <a:r>
              <a:rPr sz="1900">
                <a:solidFill>
                  <a:srgbClr val="323D50"/>
                </a:solidFill>
                <a:latin typeface="Aptos"/>
              </a:rPr>
              <a:t>•  It provides inventory totals, low-stock reporting, donor filtering and a basic compatibility lookup.</a:t>
            </a:r>
          </a:p>
          <a:p>
            <a:pPr>
              <a:spcAft>
                <a:spcPts val="1300"/>
              </a:spcAft>
            </a:pPr>
            <a:r>
              <a:rPr sz="1900">
                <a:solidFill>
                  <a:srgbClr val="323D50"/>
                </a:solidFill>
                <a:latin typeface="Aptos"/>
              </a:rPr>
              <a:t>•  Scope: educational prototype only; it is not a clinical blood release or donor-screening system.</a:t>
            </a:r>
          </a:p>
        </p:txBody>
      </p:sp>
    </p:spTree>
    <p:extLst>
      <p:ext uri="{BB962C8B-B14F-4D97-AF65-F5344CB8AC3E}">
        <p14:creationId xmlns:p14="http://schemas.microsoft.com/office/powerpoint/2010/main" val="3980090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54CC5-4FD5-611A-4481-E878E281E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500" b="1"/>
              <a:t>CO 1 Topics: Data Types &amp; Operators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FB5369-B8D0-CB2C-61B6-348BDF6E40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07C684-562B-9D58-E086-68CEC325C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7212C-F907-4AC4-966E-162B34E8EFA5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33CBD-9819-BA1C-8720-D89215B1A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4</a:t>
            </a:fld>
            <a:endParaRPr lang="en-IN"/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53492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64008" cy="4526280"/>
          </a:xfrm>
          <a:prstGeom prst="rect">
            <a:avLst/>
          </a:prstGeom>
          <a:solidFill>
            <a:srgbClr val="A6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545336"/>
            <a:ext cx="5001768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</a:pPr>
            <a:r>
              <a:rPr sz="1800" b="1">
                <a:solidFill>
                  <a:srgbClr val="162036"/>
                </a:solidFill>
                <a:latin typeface="Aptos"/>
              </a:rPr>
              <a:t>Key Concepts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965960"/>
            <a:ext cx="5001768" cy="386791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</a:pPr>
            <a:r>
              <a:rPr sz="1600" b="0">
                <a:solidFill>
                  <a:srgbClr val="323D50"/>
                </a:solidFill>
                <a:latin typeface="Aptos"/>
              </a:rPr>
              <a:t>Primitive data types: int is used for age, unit counts and menu choices.</a:t>
            </a:r>
          </a:p>
          <a:p>
            <a:pPr>
              <a:spcAft>
                <a:spcPts val="700"/>
              </a:spcAft>
            </a:pPr>
            <a:endParaRPr sz="1600" b="0">
              <a:solidFill>
                <a:srgbClr val="323D50"/>
              </a:solidFill>
              <a:latin typeface="Aptos"/>
            </a:endParaRP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323D50"/>
                </a:solidFill>
                <a:latin typeface="Aptos"/>
              </a:rPr>
              <a:t>String values store donor IDs, names, blood groups, phone numbers and cities.</a:t>
            </a:r>
          </a:p>
          <a:p>
            <a:pPr>
              <a:spcAft>
                <a:spcPts val="700"/>
              </a:spcAft>
            </a:pPr>
            <a:endParaRPr sz="1600" b="0">
              <a:solidFill>
                <a:srgbClr val="323D50"/>
              </a:solidFill>
              <a:latin typeface="Aptos"/>
            </a:endParaRP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323D50"/>
                </a:solidFill>
                <a:latin typeface="Aptos"/>
              </a:rPr>
              <a:t>Boolean conditions control duplicate-ID checks, input validation and stock availability.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417320"/>
            <a:ext cx="530352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199632" y="1417320"/>
            <a:ext cx="64008" cy="4526280"/>
          </a:xfrm>
          <a:prstGeom prst="rect">
            <a:avLst/>
          </a:prstGeom>
          <a:solidFill>
            <a:srgbClr val="A6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1545336"/>
            <a:ext cx="4956048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</a:pPr>
            <a:r>
              <a:rPr sz="1800" b="1">
                <a:solidFill>
                  <a:srgbClr val="162036"/>
                </a:solidFill>
                <a:latin typeface="Aptos"/>
              </a:rPr>
              <a:t>Application in This Project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965960"/>
            <a:ext cx="4956048" cy="386791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</a:pPr>
            <a:r>
              <a:rPr sz="1600" b="0">
                <a:solidFill>
                  <a:srgbClr val="323D50"/>
                </a:solidFill>
                <a:latin typeface="Aptos"/>
              </a:rPr>
              <a:t>Arithmetic and compound assignment operators update stock: stock[index] += units and stock[index] -= units.</a:t>
            </a:r>
          </a:p>
          <a:p>
            <a:pPr>
              <a:spcAft>
                <a:spcPts val="700"/>
              </a:spcAft>
            </a:pPr>
            <a:endParaRPr sz="1600" b="0">
              <a:solidFill>
                <a:srgbClr val="323D50"/>
              </a:solidFill>
              <a:latin typeface="Aptos"/>
            </a:endParaRP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323D50"/>
                </a:solidFill>
                <a:latin typeface="Aptos"/>
              </a:rPr>
              <a:t>The Donor class groups multiple donor attributes into one object.</a:t>
            </a:r>
          </a:p>
        </p:txBody>
      </p:sp>
    </p:spTree>
    <p:extLst>
      <p:ext uri="{BB962C8B-B14F-4D97-AF65-F5344CB8AC3E}">
        <p14:creationId xmlns:p14="http://schemas.microsoft.com/office/powerpoint/2010/main" val="4104242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4FDF4-A21D-11D6-CA7A-382058E2F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500" b="1"/>
              <a:t>CO 2 Topics: Control Structures &amp; 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027864-8698-BA0E-D44D-3E693AAB48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D11724-4931-2511-D4E0-AFF95EF4D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A43E7-AB4E-4C38-9410-6577E2291C02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2284BF-AE73-C39E-0CCD-CD938FF84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5</a:t>
            </a:fld>
            <a:endParaRPr lang="en-IN"/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53492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64008" cy="4526280"/>
          </a:xfrm>
          <a:prstGeom prst="rect">
            <a:avLst/>
          </a:prstGeom>
          <a:solidFill>
            <a:srgbClr val="A6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545336"/>
            <a:ext cx="5001768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</a:pPr>
            <a:r>
              <a:rPr sz="1800" b="1">
                <a:solidFill>
                  <a:srgbClr val="162036"/>
                </a:solidFill>
                <a:latin typeface="Aptos"/>
              </a:rPr>
              <a:t>Key Concepts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965960"/>
            <a:ext cx="5001768" cy="386791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</a:pPr>
            <a:r>
              <a:rPr sz="1600" b="0">
                <a:solidFill>
                  <a:srgbClr val="323D50"/>
                </a:solidFill>
                <a:latin typeface="Aptos"/>
              </a:rPr>
              <a:t>If-else logic validates menu choices, positive unit quantities and sufficient stock before issuing blood.</a:t>
            </a:r>
          </a:p>
          <a:p>
            <a:pPr>
              <a:spcAft>
                <a:spcPts val="700"/>
              </a:spcAft>
            </a:pPr>
            <a:endParaRPr sz="1600" b="0">
              <a:solidFill>
                <a:srgbClr val="323D50"/>
              </a:solidFill>
              <a:latin typeface="Aptos"/>
            </a:endParaRP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323D50"/>
                </a:solidFill>
                <a:latin typeface="Aptos"/>
              </a:rPr>
              <a:t>Switch-case structure routes the user to registration, search, inventory, matching, sorting and reporting features.</a:t>
            </a:r>
          </a:p>
          <a:p>
            <a:pPr>
              <a:spcAft>
                <a:spcPts val="700"/>
              </a:spcAft>
            </a:pPr>
            <a:endParaRPr sz="1600" b="0">
              <a:solidFill>
                <a:srgbClr val="323D50"/>
              </a:solidFill>
              <a:latin typeface="Aptos"/>
            </a:endParaRP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323D50"/>
                </a:solidFill>
                <a:latin typeface="Aptos"/>
              </a:rPr>
              <a:t>Do-while loop keeps the main menu running until the user selects Exit.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417320"/>
            <a:ext cx="530352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199632" y="1417320"/>
            <a:ext cx="64008" cy="4526280"/>
          </a:xfrm>
          <a:prstGeom prst="rect">
            <a:avLst/>
          </a:prstGeom>
          <a:solidFill>
            <a:srgbClr val="A6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1545336"/>
            <a:ext cx="4956048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</a:pPr>
            <a:r>
              <a:rPr sz="1800" b="1">
                <a:solidFill>
                  <a:srgbClr val="162036"/>
                </a:solidFill>
                <a:latin typeface="Aptos"/>
              </a:rPr>
              <a:t>Application in This Project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965960"/>
            <a:ext cx="4956048" cy="386791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</a:pPr>
            <a:r>
              <a:rPr sz="1600" b="0">
                <a:solidFill>
                  <a:srgbClr val="323D50"/>
                </a:solidFill>
                <a:latin typeface="Aptos"/>
              </a:rPr>
              <a:t>For loops display each blood group and its available units.</a:t>
            </a:r>
          </a:p>
          <a:p>
            <a:pPr>
              <a:spcAft>
                <a:spcPts val="700"/>
              </a:spcAft>
            </a:pPr>
            <a:endParaRPr sz="1600" b="0">
              <a:solidFill>
                <a:srgbClr val="323D50"/>
              </a:solidFill>
              <a:latin typeface="Aptos"/>
            </a:endParaRP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323D50"/>
                </a:solidFill>
                <a:latin typeface="Aptos"/>
              </a:rPr>
              <a:t>Nested loops compare registered donors against the recipient's compatible blood-group list.</a:t>
            </a:r>
          </a:p>
        </p:txBody>
      </p:sp>
    </p:spTree>
    <p:extLst>
      <p:ext uri="{BB962C8B-B14F-4D97-AF65-F5344CB8AC3E}">
        <p14:creationId xmlns:p14="http://schemas.microsoft.com/office/powerpoint/2010/main" val="41781117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BDDFB-DFEC-7A21-D889-17965A225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500" b="1"/>
              <a:t>CO 3 Topics: Methods &amp; Arrays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8ACD64-BF58-761A-504E-C381351EE8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0078FF-2013-E475-6F3D-0A16F8585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F71FF-0CE0-4D83-9933-F69CED863D80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DE39BA-552D-5E87-9C16-8B5724296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6</a:t>
            </a:fld>
            <a:endParaRPr lang="en-IN"/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53492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64008" cy="4526280"/>
          </a:xfrm>
          <a:prstGeom prst="rect">
            <a:avLst/>
          </a:prstGeom>
          <a:solidFill>
            <a:srgbClr val="A6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545336"/>
            <a:ext cx="5001768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</a:pPr>
            <a:r>
              <a:rPr sz="1800" b="1">
                <a:solidFill>
                  <a:srgbClr val="162036"/>
                </a:solidFill>
                <a:latin typeface="Aptos"/>
              </a:rPr>
              <a:t>Key Concepts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965960"/>
            <a:ext cx="5001768" cy="386791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</a:pPr>
            <a:r>
              <a:rPr sz="1600" b="0">
                <a:solidFill>
                  <a:srgbClr val="323D50"/>
                </a:solidFill>
                <a:latin typeface="Aptos"/>
              </a:rPr>
              <a:t>The fixed bloodGroups array stores the eight ABO/Rh blood-group labels.</a:t>
            </a:r>
          </a:p>
          <a:p>
            <a:pPr>
              <a:spcAft>
                <a:spcPts val="700"/>
              </a:spcAft>
            </a:pPr>
            <a:endParaRPr sz="1600" b="0">
              <a:solidFill>
                <a:srgbClr val="323D50"/>
              </a:solidFill>
              <a:latin typeface="Aptos"/>
            </a:endParaRP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323D50"/>
                </a:solidFill>
                <a:latin typeface="Aptos"/>
              </a:rPr>
              <a:t>The stock array stores the unit count corresponding to each blood group.</a:t>
            </a:r>
          </a:p>
          <a:p>
            <a:pPr>
              <a:spcAft>
                <a:spcPts val="700"/>
              </a:spcAft>
            </a:pPr>
            <a:endParaRPr sz="1600" b="0">
              <a:solidFill>
                <a:srgbClr val="323D50"/>
              </a:solidFill>
              <a:latin typeface="Aptos"/>
            </a:endParaRP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323D50"/>
                </a:solidFill>
                <a:latin typeface="Aptos"/>
              </a:rPr>
              <a:t>ArrayList&lt;Donor&gt; supports a changing number of donor registrations.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417320"/>
            <a:ext cx="530352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199632" y="1417320"/>
            <a:ext cx="64008" cy="4526280"/>
          </a:xfrm>
          <a:prstGeom prst="rect">
            <a:avLst/>
          </a:prstGeom>
          <a:solidFill>
            <a:srgbClr val="A6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1545336"/>
            <a:ext cx="4956048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</a:pPr>
            <a:r>
              <a:rPr sz="1800" b="1">
                <a:solidFill>
                  <a:srgbClr val="162036"/>
                </a:solidFill>
                <a:latin typeface="Aptos"/>
              </a:rPr>
              <a:t>Application in This Project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965960"/>
            <a:ext cx="4956048" cy="386791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</a:pPr>
            <a:r>
              <a:rPr sz="1600" b="0">
                <a:solidFill>
                  <a:srgbClr val="323D50"/>
                </a:solidFill>
                <a:latin typeface="Aptos"/>
              </a:rPr>
              <a:t>Methods such as registerDonor(), addStock(), issueBlood(), viewStock() and matchDonor() divide the program into reusable tasks.</a:t>
            </a:r>
          </a:p>
          <a:p>
            <a:pPr>
              <a:spcAft>
                <a:spcPts val="700"/>
              </a:spcAft>
            </a:pPr>
            <a:endParaRPr sz="1600" b="0">
              <a:solidFill>
                <a:srgbClr val="323D50"/>
              </a:solidFill>
              <a:latin typeface="Aptos"/>
            </a:endParaRP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323D50"/>
                </a:solidFill>
                <a:latin typeface="Aptos"/>
              </a:rPr>
              <a:t>The Donor class and toString() method organize donor data and make records easy to display.</a:t>
            </a:r>
          </a:p>
        </p:txBody>
      </p:sp>
    </p:spTree>
    <p:extLst>
      <p:ext uri="{BB962C8B-B14F-4D97-AF65-F5344CB8AC3E}">
        <p14:creationId xmlns:p14="http://schemas.microsoft.com/office/powerpoint/2010/main" val="18698754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E591A-E528-51A2-6477-BF5075B32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500" b="1"/>
              <a:t>CO 4: Collections, Sorting &amp; Searching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C763C4-B644-2CBF-4AE1-87632858C4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815390-19B0-38A3-419D-59F37FA3A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53250B-C6BE-E742-A34D-6B496E77E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7</a:t>
            </a:fld>
            <a:endParaRPr lang="en-IN"/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53492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64008" cy="4526280"/>
          </a:xfrm>
          <a:prstGeom prst="rect">
            <a:avLst/>
          </a:prstGeom>
          <a:solidFill>
            <a:srgbClr val="A6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545336"/>
            <a:ext cx="5001768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</a:pPr>
            <a:r>
              <a:rPr sz="1800" b="1">
                <a:solidFill>
                  <a:srgbClr val="162036"/>
                </a:solidFill>
                <a:latin typeface="Aptos"/>
              </a:rPr>
              <a:t>Key Concepts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965960"/>
            <a:ext cx="5001768" cy="386791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</a:pPr>
            <a:r>
              <a:rPr sz="1600" b="0">
                <a:solidFill>
                  <a:srgbClr val="323D50"/>
                </a:solidFill>
                <a:latin typeface="Aptos"/>
              </a:rPr>
              <a:t>ArrayList stores donor records dynamically as donors are registered.</a:t>
            </a:r>
          </a:p>
          <a:p>
            <a:pPr>
              <a:spcAft>
                <a:spcPts val="700"/>
              </a:spcAft>
            </a:pPr>
            <a:endParaRPr sz="1600" b="0">
              <a:solidFill>
                <a:srgbClr val="323D50"/>
              </a:solidFill>
              <a:latin typeface="Aptos"/>
            </a:endParaRP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323D50"/>
                </a:solidFill>
                <a:latin typeface="Aptos"/>
              </a:rPr>
              <a:t>Stream filtering searches donors by ID, name, blood group or city.</a:t>
            </a:r>
          </a:p>
          <a:p>
            <a:pPr>
              <a:spcAft>
                <a:spcPts val="700"/>
              </a:spcAft>
            </a:pPr>
            <a:endParaRPr sz="1600" b="0">
              <a:solidFill>
                <a:srgbClr val="323D50"/>
              </a:solidFill>
              <a:latin typeface="Aptos"/>
            </a:endParaRP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323D50"/>
                </a:solidFill>
                <a:latin typeface="Aptos"/>
              </a:rPr>
              <a:t>Comparable sorts donors by name; Comparator supports sorting by age or blood group.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417320"/>
            <a:ext cx="530352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199632" y="1417320"/>
            <a:ext cx="64008" cy="4526280"/>
          </a:xfrm>
          <a:prstGeom prst="rect">
            <a:avLst/>
          </a:prstGeom>
          <a:solidFill>
            <a:srgbClr val="A6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1545336"/>
            <a:ext cx="4956048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</a:pPr>
            <a:r>
              <a:rPr sz="1800" b="1">
                <a:solidFill>
                  <a:srgbClr val="162036"/>
                </a:solidFill>
                <a:latin typeface="Aptos"/>
              </a:rPr>
              <a:t>Application in This Project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965960"/>
            <a:ext cx="4956048" cy="386791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</a:pPr>
            <a:r>
              <a:rPr sz="1600" b="0">
                <a:solidFill>
                  <a:srgbClr val="323D50"/>
                </a:solidFill>
                <a:latin typeface="Aptos"/>
              </a:rPr>
              <a:t>Optional&lt;Donor&gt; is used when checking whether a donor ID already exists.</a:t>
            </a:r>
          </a:p>
          <a:p>
            <a:pPr>
              <a:spcAft>
                <a:spcPts val="700"/>
              </a:spcAft>
            </a:pPr>
            <a:endParaRPr sz="1600" b="0">
              <a:solidFill>
                <a:srgbClr val="323D50"/>
              </a:solidFill>
              <a:latin typeface="Aptos"/>
            </a:endParaRP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323D50"/>
                </a:solidFill>
                <a:latin typeface="Aptos"/>
              </a:rPr>
              <a:t>These collection features make searching and organizing donor records easier.</a:t>
            </a:r>
          </a:p>
        </p:txBody>
      </p:sp>
    </p:spTree>
    <p:extLst>
      <p:ext uri="{BB962C8B-B14F-4D97-AF65-F5344CB8AC3E}">
        <p14:creationId xmlns:p14="http://schemas.microsoft.com/office/powerpoint/2010/main" val="20349745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4DDC3-4D1F-21CF-55F4-04AC539E2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500" b="1"/>
              <a:t>CO 5: File Handling &amp; Persistence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22B8C9-B5A8-6FD1-7D16-20BF4FBD74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AD4194-282F-9DD3-B905-AF4DCC709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2EFFB7-2020-7F21-31F3-A08A79B5E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8</a:t>
            </a:fld>
            <a:endParaRPr lang="en-IN"/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53492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64008" cy="4526280"/>
          </a:xfrm>
          <a:prstGeom prst="rect">
            <a:avLst/>
          </a:prstGeom>
          <a:solidFill>
            <a:srgbClr val="A6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545336"/>
            <a:ext cx="5001768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</a:pPr>
            <a:r>
              <a:rPr sz="1800" b="1">
                <a:solidFill>
                  <a:srgbClr val="162036"/>
                </a:solidFill>
                <a:latin typeface="Aptos"/>
              </a:rPr>
              <a:t>Key Concepts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965960"/>
            <a:ext cx="5001768" cy="386791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</a:pPr>
            <a:r>
              <a:rPr sz="1600" b="0">
                <a:solidFill>
                  <a:srgbClr val="323D50"/>
                </a:solidFill>
                <a:latin typeface="Aptos"/>
              </a:rPr>
              <a:t>Java NIO Path represents the data folder and CSV file locations.</a:t>
            </a:r>
          </a:p>
          <a:p>
            <a:pPr>
              <a:spcAft>
                <a:spcPts val="700"/>
              </a:spcAft>
            </a:pPr>
            <a:endParaRPr sz="1600" b="0">
              <a:solidFill>
                <a:srgbClr val="323D50"/>
              </a:solidFill>
              <a:latin typeface="Aptos"/>
            </a:endParaRP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323D50"/>
                </a:solidFill>
                <a:latin typeface="Aptos"/>
              </a:rPr>
              <a:t>Files.createDirectories() creates the bloodbank-data folder when required.</a:t>
            </a:r>
          </a:p>
          <a:p>
            <a:pPr>
              <a:spcAft>
                <a:spcPts val="700"/>
              </a:spcAft>
            </a:pPr>
            <a:endParaRPr sz="1600" b="0">
              <a:solidFill>
                <a:srgbClr val="323D50"/>
              </a:solidFill>
              <a:latin typeface="Aptos"/>
            </a:endParaRP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323D50"/>
                </a:solidFill>
                <a:latin typeface="Aptos"/>
              </a:rPr>
              <a:t>Files.write() saves donor and stock data to donors.csv and stock.csv.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417320"/>
            <a:ext cx="530352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199632" y="1417320"/>
            <a:ext cx="64008" cy="4526280"/>
          </a:xfrm>
          <a:prstGeom prst="rect">
            <a:avLst/>
          </a:prstGeom>
          <a:solidFill>
            <a:srgbClr val="A6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1545336"/>
            <a:ext cx="4956048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</a:pPr>
            <a:r>
              <a:rPr sz="1800" b="1">
                <a:solidFill>
                  <a:srgbClr val="162036"/>
                </a:solidFill>
                <a:latin typeface="Aptos"/>
              </a:rPr>
              <a:t>Application in This Project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965960"/>
            <a:ext cx="4956048" cy="386791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</a:pPr>
            <a:r>
              <a:rPr sz="1600" b="0">
                <a:solidFill>
                  <a:srgbClr val="323D50"/>
                </a:solidFill>
                <a:latin typeface="Aptos"/>
              </a:rPr>
              <a:t>Files.lines() reads saved records at startup; try-with-resources closes the streams safely.</a:t>
            </a:r>
          </a:p>
          <a:p>
            <a:pPr>
              <a:spcAft>
                <a:spcPts val="700"/>
              </a:spcAft>
            </a:pPr>
            <a:endParaRPr sz="1600" b="0">
              <a:solidFill>
                <a:srgbClr val="323D50"/>
              </a:solidFill>
              <a:latin typeface="Aptos"/>
            </a:endParaRP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323D50"/>
                </a:solidFill>
                <a:latin typeface="Aptos"/>
              </a:rPr>
              <a:t>IOException handling reports file read/write problems to the user.</a:t>
            </a:r>
          </a:p>
        </p:txBody>
      </p:sp>
    </p:spTree>
    <p:extLst>
      <p:ext uri="{BB962C8B-B14F-4D97-AF65-F5344CB8AC3E}">
        <p14:creationId xmlns:p14="http://schemas.microsoft.com/office/powerpoint/2010/main" val="23773685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7C36F-68C1-38D5-BFA7-072938C7F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500" b="1"/>
              <a:t>CO 6: Streams, Reports &amp; 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1AB529-5F96-F28F-CD50-8BFE419EE3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A7D639-42E4-340C-86C7-AC49E0E49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D618D2-09FF-1F94-1B2A-BA5BD90DF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9</a:t>
            </a:fld>
            <a:endParaRPr lang="en-IN"/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53492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64008" cy="4526280"/>
          </a:xfrm>
          <a:prstGeom prst="rect">
            <a:avLst/>
          </a:prstGeom>
          <a:solidFill>
            <a:srgbClr val="A6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545336"/>
            <a:ext cx="5001768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</a:pPr>
            <a:r>
              <a:rPr sz="1800" b="1">
                <a:solidFill>
                  <a:srgbClr val="162036"/>
                </a:solidFill>
                <a:latin typeface="Aptos"/>
              </a:rPr>
              <a:t>Key Concepts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965960"/>
            <a:ext cx="5001768" cy="386791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</a:pPr>
            <a:r>
              <a:rPr sz="1600" b="0">
                <a:solidFill>
                  <a:srgbClr val="323D50"/>
                </a:solidFill>
                <a:latin typeface="Aptos"/>
              </a:rPr>
              <a:t>Streams calculate total stock and count donors within the example age range.</a:t>
            </a:r>
          </a:p>
          <a:p>
            <a:pPr>
              <a:spcAft>
                <a:spcPts val="700"/>
              </a:spcAft>
            </a:pPr>
            <a:endParaRPr sz="1600" b="0">
              <a:solidFill>
                <a:srgbClr val="323D50"/>
              </a:solidFill>
              <a:latin typeface="Aptos"/>
            </a:endParaRP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323D50"/>
                </a:solidFill>
                <a:latin typeface="Aptos"/>
              </a:rPr>
              <a:t>Collectors.groupingBy() and counting() summarize donors by blood group.</a:t>
            </a:r>
          </a:p>
          <a:p>
            <a:pPr>
              <a:spcAft>
                <a:spcPts val="700"/>
              </a:spcAft>
            </a:pPr>
            <a:endParaRPr sz="1600" b="0">
              <a:solidFill>
                <a:srgbClr val="323D50"/>
              </a:solidFill>
              <a:latin typeface="Aptos"/>
            </a:endParaRP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323D50"/>
                </a:solidFill>
                <a:latin typeface="Aptos"/>
              </a:rPr>
              <a:t>Low-stock reporting identifies blood groups with fewer than five units.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417320"/>
            <a:ext cx="530352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199632" y="1417320"/>
            <a:ext cx="64008" cy="4526280"/>
          </a:xfrm>
          <a:prstGeom prst="rect">
            <a:avLst/>
          </a:prstGeom>
          <a:solidFill>
            <a:srgbClr val="A6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1545336"/>
            <a:ext cx="4956048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</a:pPr>
            <a:r>
              <a:rPr sz="1800" b="1">
                <a:solidFill>
                  <a:srgbClr val="162036"/>
                </a:solidFill>
                <a:latin typeface="Aptos"/>
              </a:rPr>
              <a:t>Application in This Project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965960"/>
            <a:ext cx="4956048" cy="386791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</a:pPr>
            <a:r>
              <a:rPr sz="1600" b="0">
                <a:solidFill>
                  <a:srgbClr val="323D50"/>
                </a:solidFill>
                <a:latin typeface="Aptos"/>
              </a:rPr>
              <a:t>Input helper methods repeatedly prompt until valid whole numbers, text and blood groups are entered.</a:t>
            </a:r>
          </a:p>
          <a:p>
            <a:pPr>
              <a:spcAft>
                <a:spcPts val="700"/>
              </a:spcAft>
            </a:pPr>
            <a:endParaRPr sz="1600" b="0">
              <a:solidFill>
                <a:srgbClr val="323D50"/>
              </a:solidFill>
              <a:latin typeface="Aptos"/>
            </a:endParaRP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323D50"/>
                </a:solidFill>
                <a:latin typeface="Aptos"/>
              </a:rPr>
              <a:t>The compatibility map is a simplified classroom example and must not be used for clinical decisions.</a:t>
            </a:r>
          </a:p>
        </p:txBody>
      </p:sp>
    </p:spTree>
    <p:extLst>
      <p:ext uri="{BB962C8B-B14F-4D97-AF65-F5344CB8AC3E}">
        <p14:creationId xmlns:p14="http://schemas.microsoft.com/office/powerpoint/2010/main" val="7071174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AD3A7-F925-7472-F39D-15B33FC20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500" b="1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290F1-736B-3136-6FB3-89FC4E638D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120CA1-D5C4-5904-1345-350900EF2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92BF1E-562C-F1F9-8BD5-71BDFB343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10</a:t>
            </a:fld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698480" cy="4754880"/>
          </a:xfrm>
          <a:prstGeom prst="rect">
            <a:avLst/>
          </a:prstGeom>
          <a:noFill/>
        </p:spPr>
        <p:txBody>
          <a:bodyPr wrap="square" lIns="109728" tIns="91440">
            <a:spAutoFit/>
          </a:bodyPr>
          <a:lstStyle/>
          <a:p>
            <a:pPr>
              <a:spcAft>
                <a:spcPts val="1300"/>
              </a:spcAft>
            </a:pPr>
            <a:r>
              <a:rPr sz="1900">
                <a:solidFill>
                  <a:srgbClr val="323D50"/>
                </a:solidFill>
                <a:latin typeface="Aptos"/>
              </a:rPr>
              <a:t>•  The project combines donor registration, donor search, blood inventory management and basic matching in one Java application.</a:t>
            </a:r>
          </a:p>
          <a:p>
            <a:pPr>
              <a:spcAft>
                <a:spcPts val="1300"/>
              </a:spcAft>
            </a:pPr>
            <a:r>
              <a:rPr sz="1900">
                <a:solidFill>
                  <a:srgbClr val="323D50"/>
                </a:solidFill>
                <a:latin typeface="Aptos"/>
              </a:rPr>
              <a:t>•  It applies data types, operators, conditional statements, loops, arrays, methods and object-oriented programming.</a:t>
            </a:r>
          </a:p>
          <a:p>
            <a:pPr>
              <a:spcAft>
                <a:spcPts val="1300"/>
              </a:spcAft>
            </a:pPr>
            <a:r>
              <a:rPr sz="1900">
                <a:solidFill>
                  <a:srgbClr val="323D50"/>
                </a:solidFill>
                <a:latin typeface="Aptos"/>
              </a:rPr>
              <a:t>•  Collections, sorting, streams and file handling support flexible records and persistent data.</a:t>
            </a:r>
          </a:p>
          <a:p>
            <a:pPr>
              <a:spcAft>
                <a:spcPts val="1300"/>
              </a:spcAft>
            </a:pPr>
            <a:r>
              <a:rPr sz="1900">
                <a:solidFill>
                  <a:srgbClr val="323D50"/>
                </a:solidFill>
                <a:latin typeface="Aptos"/>
              </a:rPr>
              <a:t>•  The report feature gives a quick overview of donor counts, stock totals and low-stock groups.</a:t>
            </a:r>
          </a:p>
          <a:p>
            <a:pPr>
              <a:spcAft>
                <a:spcPts val="1300"/>
              </a:spcAft>
            </a:pPr>
            <a:r>
              <a:rPr sz="1900">
                <a:solidFill>
                  <a:srgbClr val="323D50"/>
                </a:solidFill>
                <a:latin typeface="Aptos"/>
              </a:rPr>
              <a:t>•  Future improvements could include a database, graphical interface, authentication, audit logs and validated clinical workflows.</a:t>
            </a:r>
          </a:p>
        </p:txBody>
      </p:sp>
    </p:spTree>
    <p:extLst>
      <p:ext uri="{BB962C8B-B14F-4D97-AF65-F5344CB8AC3E}">
        <p14:creationId xmlns:p14="http://schemas.microsoft.com/office/powerpoint/2010/main" val="17449643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77661-8074-79B2-B035-E36DFB309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500" b="1"/>
              <a:t>Screen Shots / Sample Console Output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F50197-AF06-5AEF-7EEE-2BB7A4AD9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9311A9-71C6-FE7D-18DF-375E38D50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B251AB-4887-6558-97BB-1B1D91803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11</a:t>
            </a:fld>
            <a:endParaRPr lang="en-IN"/>
          </a:p>
        </p:txBody>
      </p:sp>
      <p:sp>
        <p:nvSpPr>
          <p:cNvPr id="6" name="Rounded Rectangle 5"/>
          <p:cNvSpPr/>
          <p:nvPr/>
        </p:nvSpPr>
        <p:spPr>
          <a:xfrm>
            <a:off x="777240" y="1417320"/>
            <a:ext cx="10652760" cy="4526280"/>
          </a:xfrm>
          <a:prstGeom prst="roundRect">
            <a:avLst/>
          </a:prstGeom>
          <a:solidFill>
            <a:srgbClr val="162036"/>
          </a:solidFill>
          <a:ln>
            <a:solidFill>
              <a:srgbClr val="1620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1691640"/>
            <a:ext cx="10058400" cy="40690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700"/>
              </a:spcAft>
            </a:pPr>
            <a:r>
              <a:rPr sz="1700" b="0">
                <a:solidFill>
                  <a:srgbClr val="FFFFFF"/>
                </a:solidFill>
                <a:latin typeface="Consolas"/>
              </a:rPr>
              <a:t>Illustrative menu output (not a screenshot of a live run):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FFFFFF"/>
                </a:solidFill>
                <a:latin typeface="Consolas"/>
              </a:rPr>
              <a:t>==============================================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FFFFFF"/>
                </a:solidFill>
                <a:latin typeface="Consolas"/>
              </a:rPr>
              <a:t> BLOOD BANK INVENTORY AND DONOR MATCHER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FFFFFF"/>
                </a:solidFill>
                <a:latin typeface="Consolas"/>
              </a:rPr>
              <a:t>==============================================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FFFFFF"/>
                </a:solidFill>
                <a:latin typeface="Consolas"/>
              </a:rPr>
              <a:t>1. Register Donor     2. View All Donors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FFFFFF"/>
                </a:solidFill>
                <a:latin typeface="Consolas"/>
              </a:rPr>
              <a:t>3. Search Donor       4. Add Blood Stock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FFFFFF"/>
                </a:solidFill>
                <a:latin typeface="Consolas"/>
              </a:rPr>
              <a:t>5. Issue Blood        6. View Blood Inventory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FFFFFF"/>
                </a:solidFill>
                <a:latin typeface="Consolas"/>
              </a:rPr>
              <a:t>7. Find Compatible Donors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FFFFFF"/>
                </a:solidFill>
                <a:latin typeface="Consolas"/>
              </a:rPr>
              <a:t>8. Sort Donors        9. Generate Reports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FFFFFF"/>
                </a:solidFill>
                <a:latin typeface="Consolas"/>
              </a:rPr>
              <a:t>10. Save Data         0. Exit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FFFFFF"/>
                </a:solidFill>
                <a:latin typeface="Consolas"/>
              </a:rPr>
              <a:t>Choose an option: _</a:t>
            </a:r>
          </a:p>
        </p:txBody>
      </p:sp>
    </p:spTree>
    <p:extLst>
      <p:ext uri="{BB962C8B-B14F-4D97-AF65-F5344CB8AC3E}">
        <p14:creationId xmlns:p14="http://schemas.microsoft.com/office/powerpoint/2010/main" val="20152989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EF2EB-DC8E-A39F-8C45-4CB818547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500" b="1"/>
              <a:t>Geo Tag Photo and GitHub Link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4E026B-5FC7-651F-1236-75071A9D26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2208" y="1459071"/>
            <a:ext cx="10515600" cy="4351338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D4BAD5-7EFF-4B1E-4929-B42B4691D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14C08-598A-44BF-A4B1-00F35979A9B0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3CFBAF-EF7C-CF04-7D6A-23B99B45B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12</a:t>
            </a:fld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777240" y="1417320"/>
            <a:ext cx="64008" cy="4434840"/>
          </a:xfrm>
          <a:prstGeom prst="rect">
            <a:avLst/>
          </a:prstGeom>
          <a:solidFill>
            <a:srgbClr val="A6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3967770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922</Words>
  <Application>Microsoft Office PowerPoint</Application>
  <PresentationFormat>Widescreen</PresentationFormat>
  <Paragraphs>123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Consolas</vt:lpstr>
      <vt:lpstr>Office Theme</vt:lpstr>
      <vt:lpstr>BLOOD BANK INVENTORY AND DONOR MATCHER TEAM NO: 7</vt:lpstr>
      <vt:lpstr>Abstract</vt:lpstr>
      <vt:lpstr>Understanding Problem Statement</vt:lpstr>
      <vt:lpstr>CO 1 Topics: Data Types &amp; Operators</vt:lpstr>
      <vt:lpstr>CO 2 Topics: Control Structures &amp; Loops</vt:lpstr>
      <vt:lpstr>CO 3 Topics: Methods &amp; Arrays</vt:lpstr>
      <vt:lpstr>CO 4: Collections, Sorting &amp; Searching</vt:lpstr>
      <vt:lpstr>CO 5: File Handling &amp; Persistence</vt:lpstr>
      <vt:lpstr>CO 6: Streams, Reports &amp; Validation</vt:lpstr>
      <vt:lpstr>Conclusion</vt:lpstr>
      <vt:lpstr>Screen Shots / Sample Console Output</vt:lpstr>
      <vt:lpstr>Geo Tag Photo and GitHub Link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TSP MADHURI</dc:creator>
  <cp:lastModifiedBy>vikas chinta</cp:lastModifiedBy>
  <cp:revision>3</cp:revision>
  <dcterms:created xsi:type="dcterms:W3CDTF">2026-09-15T09:57:10Z</dcterms:created>
  <dcterms:modified xsi:type="dcterms:W3CDTF">2026-10-15T16:48:52Z</dcterms:modified>
</cp:coreProperties>
</file>